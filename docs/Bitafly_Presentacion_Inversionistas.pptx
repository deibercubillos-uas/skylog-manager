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92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8288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bitafly.com  ·  Confidencial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457700"/>
            <a:ext cx="12192000" cy="24003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BITAFLY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CDDEE"/>
                </a:solidFill>
              </a:rPr>
              <a:t>Oportunidad de Inversión — Junio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Plataforma SaaS para gestión de drones en Colombia · RAC 100 · AeroCivil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</a:rPr>
              <a:t>6.000+ operadores de drones en Colombia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</a:rPr>
              <a:t>con una obligación legal que nadie resuelve bien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566160" cy="2560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Cumplimiento RAC 100 obligatorio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Bitácoras, planes, mantenimiento, SMS y autorizaciones — todo exigido por la UAEAC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566160" cy="2560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1605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6052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Hoy lo hacen en Excel y papel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2880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Alto riesgo de multas, errores, accidentes sin respaldo y pérdida de licencia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66160" cy="2560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5528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Las herramientas existentes son extranjeras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2880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Airdata (EE.UU.), DroneDeploy (UK) — sin RAC 100, sin COP, sin soporte en español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La Solución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744"/>
                </a:solidFill>
              </a:rPr>
              <a:t>Bitafly: la primera plataforma SaaS colombiana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A2744"/>
                </a:solidFill>
              </a:rPr>
              <a:t>100% alineada con el RAC 100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56616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📒 Bitácora digital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Sync automática DJI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✈️ Planes de vuelo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KMZ/PDF para AeroCivil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1381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🔧 Mantenimiento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Alertas preventivas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🛡️ SMS aeronáutico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Gestión de seguridad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246120"/>
            <a:ext cx="356616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29768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📡 SORA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Espacio aéreo controlado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2461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13816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📊 Reportes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Auditoría y cumplimiento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El Mercado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4"/>
                </a:solidFill>
              </a:rPr>
              <a:t>Colombia: mercado regulado en crecimiento acelerado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3657600" cy="2743200"/>
          </a:xfrm>
          <a:prstGeom prst="ellipse">
            <a:avLst/>
          </a:prstGeom>
          <a:solidFill>
            <a:srgbClr val="2D7DD2">
              <a:alpha val="85000"/>
            </a:srgbClr>
          </a:solidFill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~6.000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Operadores drones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comerciales Colombia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200400" cy="2377440"/>
          </a:xfrm>
          <a:prstGeom prst="ellipse">
            <a:avLst/>
          </a:prstGeom>
          <a:solidFill>
            <a:srgbClr val="1B7A4A">
              <a:alpha val="85000"/>
            </a:srgbClr>
          </a:solidFill>
          <a:ln w="254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~3.600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 cumplimiento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RAC 100 obligatorio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2926080" cy="2011680"/>
          </a:xfrm>
          <a:prstGeom prst="ellipse">
            <a:avLst/>
          </a:prstGeom>
          <a:solidFill>
            <a:srgbClr val="C0392B">
              <a:alpha val="85000"/>
            </a:srgbClr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7724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SOM Año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~148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Meta realista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4% del SAM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389120"/>
            <a:ext cx="114300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📈  Crecimiento del mercado: ~25% anual. RAC 100 hace el cumplimiento OBLIGATORIO → cliente cautivo con alto costo de cambio.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Modelo de Negocio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4"/>
                </a:solidFill>
              </a:rPr>
              <a:t>Suscripción mensual/anual — 4 planes escalonados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3108960"/>
          </a:xfrm>
          <a:prstGeom prst="rect">
            <a:avLst/>
          </a:prstGeom>
          <a:solidFill>
            <a:srgbClr val="4A9ED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$19.900/mes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$218.900/año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2880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 dron, 1 piloto. Para operador independiente.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743200" cy="3108960"/>
          </a:xfrm>
          <a:prstGeom prst="rect">
            <a:avLst/>
          </a:prstGeom>
          <a:solidFill>
            <a:srgbClr val="2D7DD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0040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Escuadrilla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$149.900/mes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$1.648.900/año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00400" y="2880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 drones, 4 pilotos. Empresas pequeñas.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743200" cy="3108960"/>
          </a:xfrm>
          <a:prstGeom prst="rect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Flota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$249.900/mes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$2.748.900/año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83464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126480" y="2880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15 drones, 15 pilotos. Empresas medianas.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1371600"/>
            <a:ext cx="2743200" cy="3108960"/>
          </a:xfrm>
          <a:prstGeom prst="rect">
            <a:avLst/>
          </a:prstGeom>
          <a:solidFill>
            <a:srgbClr val="1A274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05256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25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Cotizar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5256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Desde $5M/año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35440" y="283464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052560" y="2880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Flota ilimitada. Grandes operadores.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7DD2"/>
                </a:solidFill>
              </a:rPr>
              <a:t>ARPU mezclado: ~$91.900 COP/cliente/mes  ·  Margen bruto: ~85%  ·  LTV: ~$1.950.000 COP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Métricas SaaS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4"/>
                </a:solidFill>
              </a:rPr>
              <a:t>Indicadores de salud del negocio — todos en zona verde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Margen Bruto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85%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&gt;75%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4173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60520" y="1490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60520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LTV / CAC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~4,9×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60520" y="2487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&gt;3×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955280" y="1490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Payback CAC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~5 meses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0" y="2487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&lt;12 meses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65760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Churn mensual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4087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&lt;5%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0175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160520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6052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Meses a EBITDA+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10 meses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60520" y="4087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&lt;18 meses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3566160" cy="1417320"/>
          </a:xfrm>
          <a:prstGeom prst="rect">
            <a:avLst/>
          </a:prstGeom>
          <a:solidFill>
            <a:srgbClr val="D4EDDA"/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955280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95528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LTV por cliente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$1.950.000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955280" y="4087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Ref: &gt;3× CAC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Proyección Año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</a:rPr>
              <a:t>EBITDA mensual positivo desde el Mes 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−2.0M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23444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−1.8M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10312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−1.7M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97180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−1.6M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16c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84048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−1.1M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25c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0916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−0.5M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36c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57784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−3.3M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48c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44652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−2.4M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63c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4297680"/>
            <a:ext cx="777240" cy="91440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731520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−1.1M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81c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83880" y="3899916"/>
            <a:ext cx="777240" cy="397764"/>
          </a:xfrm>
          <a:prstGeom prst="rect">
            <a:avLst/>
          </a:prstGeom>
          <a:solidFill>
            <a:srgbClr val="1B7A4A">
              <a:alpha val="80000"/>
            </a:srgbClr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18388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83880" y="35798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4A"/>
                </a:solidFill>
              </a:rPr>
              <a:t>+0.3M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83880" y="40233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101c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52560" y="3241548"/>
            <a:ext cx="777240" cy="1056132"/>
          </a:xfrm>
          <a:prstGeom prst="rect">
            <a:avLst/>
          </a:prstGeom>
          <a:solidFill>
            <a:srgbClr val="1B7A4A">
              <a:alpha val="80000"/>
            </a:srgbClr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905256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52560" y="29215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4A"/>
                </a:solidFill>
              </a:rPr>
              <a:t>+1.9M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52560" y="40233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123c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921240" y="2624328"/>
            <a:ext cx="777240" cy="1673352"/>
          </a:xfrm>
          <a:prstGeom prst="rect">
            <a:avLst/>
          </a:prstGeom>
          <a:solidFill>
            <a:srgbClr val="1B7A4A">
              <a:alpha val="80000"/>
            </a:srgbClr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9921240" y="4434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921240" y="23042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4A"/>
                </a:solidFill>
              </a:rPr>
              <a:t>+3.4M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21240" y="40233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148c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4A"/>
                </a:solidFill>
              </a:rPr>
              <a:t>✅ EBITDA+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Proyección 5 Años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</a:rPr>
              <a:t>Curva en J clásica SaaS: pérdida controlada Año 1, rentabilidad creciente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731520"/>
          </a:xfrm>
          <a:prstGeom prst="rect">
            <a:avLst/>
          </a:prstGeom>
          <a:solidFill>
            <a:srgbClr val="2D7DD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Año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148 clientes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−$10M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−17%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377440"/>
            <a:ext cx="1828800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8892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Año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420 clientes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+$32M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+10%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463040"/>
            <a:ext cx="1828800" cy="2286000"/>
          </a:xfrm>
          <a:prstGeom prst="rect">
            <a:avLst/>
          </a:prstGeom>
          <a:solidFill>
            <a:srgbClr val="1B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120640" y="1078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Año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1234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850 clientes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+$154M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+20%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731520"/>
            <a:ext cx="1828800" cy="3017520"/>
          </a:xfrm>
          <a:prstGeom prst="rect">
            <a:avLst/>
          </a:prstGeom>
          <a:solidFill>
            <a:srgbClr val="145A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452360" y="347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Año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502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1.450 clientes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52360" y="1636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+$411M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2360" y="2542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+28%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84080" y="365760"/>
            <a:ext cx="1828800" cy="3383280"/>
          </a:xfrm>
          <a:prstGeom prst="rect">
            <a:avLst/>
          </a:prstGeom>
          <a:solidFill>
            <a:srgbClr val="0D3B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9784080" y="-18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Año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137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2.200 clientes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0" y="13807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+$784M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8408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+32%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617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4A"/>
                </a:solidFill>
              </a:rPr>
              <a:t>ARR fin Año 5: ~$2.949M COP  ·  Valoración proyectada: ~$11.800M COP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ACCEE"/>
                </a:solidFill>
              </a:rPr>
              <a:t>Tu Oportunidad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Invierte desde $5.000.000 COP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DDEE"/>
                </a:solidFill>
              </a:rPr>
              <a:t>y conviértete en copropietario de Bitafly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4747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DDEE"/>
                </a:solidFill>
              </a:rPr>
              <a:t>Acciones recibidas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12,5 acciones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BBCC"/>
                </a:solidFill>
              </a:rPr>
              <a:t>de 1.000 totales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34747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0" y="2395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DDEE"/>
                </a:solidFill>
              </a:rPr>
              <a:t>Tu participación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1,23%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BBCC"/>
                </a:solidFill>
              </a:rPr>
              <a:t>de Bitafly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4747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0" y="2395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DDEE"/>
                </a:solidFill>
              </a:rPr>
              <a:t>Precio por acción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$400.000 COP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BBCC"/>
                </a:solidFill>
              </a:rPr>
              <a:t>Valoración $400M COP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2806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✅  Post-money: $405.000.000 COP  ·  Mínimo de inversión: $5.000.000 COP  ·  Precio/acción: $400.000 COP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Retorno Proyectado para el Inversionista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4"/>
                </a:solidFill>
              </a:rPr>
              <a:t>¿Cuánto puede crecer tu inversión de $5.000.000 COP?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01168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Hoy (entrada)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36576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50292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0" y="1490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744"/>
                </a:solidFill>
              </a:rPr>
              <a:t>$5.000.000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22860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32720" y="15270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</a:rPr>
              <a:t>Tu inversión inicial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2011680" cy="548640"/>
          </a:xfrm>
          <a:prstGeom prst="rect">
            <a:avLst/>
          </a:prstGeom>
          <a:solidFill>
            <a:srgbClr val="2D7DD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2258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Año 1 (Mes 10)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423160"/>
            <a:ext cx="36576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0" y="2148840"/>
            <a:ext cx="5029200" cy="548640"/>
          </a:xfrm>
          <a:prstGeom prst="rect">
            <a:avLst/>
          </a:prstGeom>
          <a:solidFill>
            <a:srgbClr val="D4EDD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0" y="2221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744"/>
                </a:solidFill>
              </a:rPr>
              <a:t>EBITDA+ empresa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2148840"/>
            <a:ext cx="2286000" cy="548640"/>
          </a:xfrm>
          <a:prstGeom prst="rect">
            <a:avLst/>
          </a:prstGeom>
          <a:solidFill>
            <a:srgbClr val="2D7DD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9552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32720" y="2258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</a:rPr>
              <a:t>El negocio ya es rentable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01168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65760" y="2990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Año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3154680"/>
            <a:ext cx="36576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743200" y="2880360"/>
            <a:ext cx="5029200" cy="548640"/>
          </a:xfrm>
          <a:prstGeom prst="rect">
            <a:avLst/>
          </a:prstGeom>
          <a:solidFill>
            <a:srgbClr val="D4EDD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743200" y="2953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4A"/>
                </a:solidFill>
              </a:rPr>
              <a:t>$24.691.358 COP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2880360"/>
            <a:ext cx="228600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95528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4.9×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32720" y="29900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</a:rPr>
              <a:t>~4.9× tu inversión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2011680" cy="548640"/>
          </a:xfrm>
          <a:prstGeom prst="rect">
            <a:avLst/>
          </a:prstGeom>
          <a:solidFill>
            <a:srgbClr val="1B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6576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Año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77440" y="3886200"/>
            <a:ext cx="365760" cy="0"/>
          </a:xfrm>
          <a:prstGeom prst="line">
            <a:avLst/>
          </a:prstGeom>
          <a:noFill/>
          <a:ln w="254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743200" y="3611880"/>
            <a:ext cx="5029200" cy="548640"/>
          </a:xfrm>
          <a:prstGeom prst="rect">
            <a:avLst/>
          </a:prstGeom>
          <a:solidFill>
            <a:srgbClr val="D4EDD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743200" y="3685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4A"/>
                </a:solidFill>
              </a:rPr>
              <a:t>$49.382.716 COP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55280" y="3611880"/>
            <a:ext cx="2286000" cy="548640"/>
          </a:xfrm>
          <a:prstGeom prst="rect">
            <a:avLst/>
          </a:prstGeom>
          <a:solidFill>
            <a:srgbClr val="1B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79552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9.9×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32720" y="37216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</a:rPr>
              <a:t>~9.9× tu inversión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343400"/>
            <a:ext cx="2011680" cy="548640"/>
          </a:xfrm>
          <a:prstGeom prst="rect">
            <a:avLst/>
          </a:prstGeom>
          <a:solidFill>
            <a:srgbClr val="145A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65760" y="4453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Año 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377440" y="4617720"/>
            <a:ext cx="365760" cy="0"/>
          </a:xfrm>
          <a:prstGeom prst="line">
            <a:avLst/>
          </a:prstGeom>
          <a:noFill/>
          <a:ln w="25400">
            <a:solidFill>
              <a:srgbClr val="145A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743200" y="4343400"/>
            <a:ext cx="5029200" cy="548640"/>
          </a:xfrm>
          <a:prstGeom prst="rect">
            <a:avLst/>
          </a:prstGeom>
          <a:solidFill>
            <a:srgbClr val="D4EDD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743200" y="4416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4A"/>
                </a:solidFill>
              </a:rPr>
              <a:t>$145.629.630 COP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55280" y="4343400"/>
            <a:ext cx="2286000" cy="548640"/>
          </a:xfrm>
          <a:prstGeom prst="rect">
            <a:avLst/>
          </a:prstGeom>
          <a:solidFill>
            <a:srgbClr val="145A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795528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29.1×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332720" y="4453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</a:rPr>
              <a:t>~29.1× tu inversión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11430000" cy="457200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57200" y="5001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4A"/>
                </a:solidFill>
              </a:rPr>
              <a:t>★  $5.000.000 COP invertidos hoy → ~$145.629.630 COP proyectados en Año 5  (~29.1× · TIR ~82% anual)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Escenarios de Ronda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44"/>
                </a:solidFill>
              </a:rPr>
              <a:t>Pre-money: $400.000.000 COP  ·  Precio/acción: $400.000 COP  ·  Total acciones: 1.000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43000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Inversión (COP)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Acciones nuevas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de la empresa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Post-money (COP)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$120.000.000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23,1%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$520.000.000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$180.000.000  ★ RECOMENDADO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450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31,0%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$580.000.000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$260.000.000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650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39,4%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$660.000.000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$5.000.000  (mínimo)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12,5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1,23%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$405.000.000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572000"/>
            <a:ext cx="11430000" cy="82296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57200" y="46451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</a:rPr>
              <a:t>💡  La ronda está abierta a múltiples inversionistas desde $5M COP. El total máximo a levantar es $180M COP (31%) para preservar el control del fundador.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Glosario Rápido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15568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11430000" cy="374904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Término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Significado simple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Ingresos recurrentes mensuales = "sueldo mensual" del negocio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ARR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MRR × 12 = ingreso anualizado. Base para valorar empresas SaaS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ARPU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Ingreso promedio por cliente/mes. Bitafly: ~$91.900 COP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EBITDA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Utilidad operativa bruta antes de impuestos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LTV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Cuánto genera un cliente en toda su vida. Bitafly: ~$1.950.000 COP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CAC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Cuánto cuesta conseguir un cliente. Bitafly: ~$400.000 COP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% de clientes que cancelan por mes. Bitafly: 4% (meta &lt;5%)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Pre-money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Valor de la empresa ANTES de tu inversión: $400M COP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TIR/IRR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Rendimiento anual equivalente de la inversión: ~82%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RAC 100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Norma legal colombiana de drones — cumplimiento OBLIGATORIO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BITAFLY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AACCEE"/>
                </a:solidFill>
              </a:rPr>
              <a:t>El momento de entrar es ahora.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✅  Producto terminado y funcionando hoy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✅  Mercado regulado = cliente cautivo (RAC 100 obligatorio)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✅  Sin competidor local con cobertura completa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✅  EBITDA+ en 10 meses — el negocio se sostiene solo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✅  $5.000.000 COP → ~$145.629.630 COP proyectados en Año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📧 deibercubillos@gmail.com  ·  🌐 bitafly.com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1036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DDEE"/>
                </a:solidFill>
              </a:rPr>
              <a:t>Solicita el modelo Excel completo con fórmulas vivas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Panorámica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Deiber alejandro Cubillos Otalora</cp:lastModifiedBy>
  <cp:revision>1</cp:revision>
  <dcterms:created xsi:type="dcterms:W3CDTF">2026-06-08T15:07:43Z</dcterms:created>
  <dcterms:modified xsi:type="dcterms:W3CDTF">2026-06-08T15:09:08Z</dcterms:modified>
</cp:coreProperties>
</file>